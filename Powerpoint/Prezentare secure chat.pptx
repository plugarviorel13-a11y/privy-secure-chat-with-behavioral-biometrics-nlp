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63" r:id="rId4"/>
    <p:sldId id="264" r:id="rId5"/>
    <p:sldId id="266" r:id="rId6"/>
    <p:sldId id="267" r:id="rId7"/>
    <p:sldId id="275" r:id="rId8"/>
    <p:sldId id="287" r:id="rId9"/>
    <p:sldId id="279" r:id="rId1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94"/>
        <p:guide pos="3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3302000" y="1965325"/>
            <a:ext cx="5588000" cy="3764682"/>
            <a:chOff x="3457574" y="1641515"/>
            <a:chExt cx="5143501" cy="3463845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4218180" y="4681774"/>
              <a:ext cx="3318288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US" altLang="zh-CN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Plugar</a:t>
              </a:r>
              <a:r>
                <a:rPr lang="zh-CN" alt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 </a:t>
              </a:r>
              <a:r>
                <a:rPr lang="en-US" altLang="zh-CN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Viorel</a:t>
              </a:r>
              <a:r>
                <a:rPr lang="zh-CN" alt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-</a:t>
              </a:r>
              <a:r>
                <a:rPr lang="en-US" altLang="zh-CN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Nicolae</a:t>
              </a:r>
              <a:endParaRPr lang="en-US" altLang="zh-CN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4495261" y="1641515"/>
              <a:ext cx="3316567" cy="310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3827042" y="2685193"/>
            <a:ext cx="4973083" cy="258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400"/>
              <a:t>Privy - Next Gen Secure Messenger</a:t>
            </a:r>
            <a:endParaRPr lang="en-US" sz="440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12097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509145" y="929962"/>
            <a:ext cx="11149455" cy="53565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842963" y="1243013"/>
            <a:ext cx="6090089" cy="400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buFont typeface="Arial" panose="020B0604020202020204" pitchFamily="34" charset="0"/>
            </a:pPr>
            <a:r>
              <a:rPr sz="3200"/>
              <a:t>Introducere și Context</a:t>
            </a:r>
            <a:endParaRPr lang="zh-CN" altLang="en-US" sz="32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5866405" y="2270622"/>
            <a:ext cx="5392738" cy="298577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sz="2400" b="1"/>
              <a:t>Soluția</a:t>
            </a:r>
            <a:r>
              <a:rPr sz="2400"/>
              <a:t> Privy: Un sistem de mesagerie care nu verifică utilizatorul doar la Login, ci continuu, analizând comportamentul biometric (ritmul de tastare) și conținutul mesajelor (Phishing AI).</a:t>
            </a:r>
            <a:endParaRPr lang="en-US" altLang="zh-CN" sz="24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42962" y="2270665"/>
            <a:ext cx="5023485" cy="2226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400" b="1"/>
              <a:t>Problema:</a:t>
            </a:r>
            <a:r>
              <a:rPr sz="2400"/>
              <a:t> Aplicațiile actuale de chat (WhatsApp, </a:t>
            </a:r>
            <a:r>
              <a:rPr lang="en-US" altLang="zh-CN" sz="2400"/>
              <a:t>Messenger</a:t>
            </a:r>
            <a:r>
              <a:rPr sz="2400"/>
              <a:t>) sunt sigure doar până când cineva îți află parola sau îți fură telefonul deblocat. Odată intrat în cont, atacatorul poate face orice.</a:t>
            </a:r>
            <a:endParaRPr lang="en-US" sz="240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6" name="组合 1"/>
          <p:cNvGrpSpPr/>
          <p:nvPr/>
        </p:nvGrpSpPr>
        <p:grpSpPr>
          <a:xfrm>
            <a:off x="243856" y="427417"/>
            <a:ext cx="5896766" cy="96121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4" name="文本框 28"/>
          <p:cNvSpPr txBox="1"/>
          <p:nvPr/>
        </p:nvSpPr>
        <p:spPr>
          <a:xfrm>
            <a:off x="1217613" y="656241"/>
            <a:ext cx="5573712" cy="8959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buFont typeface="Arial" panose="020B0604020202020204" pitchFamily="34" charset="0"/>
            </a:pPr>
            <a:r>
              <a:rPr sz="2800"/>
              <a:t>Caracteristici Principale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68" name="矩形 13"/>
          <p:cNvSpPr>
            <a:spLocks noChangeArrowheads="1"/>
          </p:cNvSpPr>
          <p:nvPr/>
        </p:nvSpPr>
        <p:spPr bwMode="auto">
          <a:xfrm>
            <a:off x="868324" y="2111708"/>
            <a:ext cx="4332288" cy="99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b="1"/>
              <a:t>1.</a:t>
            </a:r>
            <a:r>
              <a:rPr sz="1800" b="1"/>
              <a:t>Criptare Hibridă</a:t>
            </a:r>
            <a:r>
              <a:rPr sz="1800"/>
              <a:t> (Simulare E2E): Mesajele sunt criptate, asigurând confidențialitatea datelor în tranzit.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440519" y="2001869"/>
            <a:ext cx="4265581" cy="92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/>
              <a:t>3.</a:t>
            </a:r>
            <a:r>
              <a:rPr b="1"/>
              <a:t>Biometrie</a:t>
            </a:r>
            <a:r>
              <a:t> Comportamentală (Keystroke Dynamics): Sistemul măsoară viteza de tastare și pauzele dintre taste pentru a crea o amprentă digitală a utilizatorului.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68324" y="3724925"/>
            <a:ext cx="4265581" cy="92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/>
              <a:t>2.</a:t>
            </a:r>
            <a:r>
              <a:rPr b="1"/>
              <a:t>Private Agenda</a:t>
            </a:r>
            <a:r>
              <a:t> (Contacte Ascunse): Nu există o listă publică de utilizatori. Poți adăuga un contact doar dacă îi cunoști username-ul exact. Nimeni nu te poate "căuta" sau spiona.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440519" y="3724942"/>
            <a:ext cx="5305425" cy="92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/>
              <a:t>4.</a:t>
            </a:r>
            <a:r>
              <a:rPr b="1"/>
              <a:t>Detecție AI Phishing:</a:t>
            </a:r>
            <a:r>
              <a:t> Analiză automată a mesajelor primite pentru a avertiza utilizatorul dacă textul conține tipare de inginerie socială (ex: "Click aici urgent").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257550" y="5504212"/>
            <a:ext cx="4486275" cy="645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>
              <a:buNone/>
            </a:pPr>
            <a:r>
              <a:rPr lang="en-US" altLang="zh-CN" b="1"/>
              <a:t>5.</a:t>
            </a:r>
            <a:r>
              <a:rPr b="1"/>
              <a:t>Interfață "Stealth"</a:t>
            </a:r>
            <a:r>
              <a:t>: Design minimalist, Dark Mode, fără elemente care să distragă atenția.</a:t>
            </a: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314" name="组合 1"/>
          <p:cNvGrpSpPr/>
          <p:nvPr/>
        </p:nvGrpSpPr>
        <p:grpSpPr>
          <a:xfrm>
            <a:off x="211138" y="257175"/>
            <a:ext cx="711200" cy="63500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2" name="文本框 28"/>
          <p:cNvSpPr txBox="1"/>
          <p:nvPr/>
        </p:nvSpPr>
        <p:spPr>
          <a:xfrm>
            <a:off x="263843" y="257175"/>
            <a:ext cx="3744912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sz="3200"/>
              <a:t>Ce aduce nou?</a:t>
            </a:r>
            <a:endParaRPr lang="zh-CN" altLang="en-US" sz="32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泪滴形 11"/>
          <p:cNvSpPr/>
          <p:nvPr/>
        </p:nvSpPr>
        <p:spPr>
          <a:xfrm rot="5400000">
            <a:off x="3918324" y="1732336"/>
            <a:ext cx="2266950" cy="2269379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泪滴形 12"/>
          <p:cNvSpPr/>
          <p:nvPr/>
        </p:nvSpPr>
        <p:spPr>
          <a:xfrm rot="10800000">
            <a:off x="6253163" y="2133600"/>
            <a:ext cx="1862138" cy="1862138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泪滴形 13"/>
          <p:cNvSpPr/>
          <p:nvPr/>
        </p:nvSpPr>
        <p:spPr>
          <a:xfrm rot="16200000">
            <a:off x="6267450" y="4060825"/>
            <a:ext cx="1619250" cy="1619250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021884" y="1831975"/>
            <a:ext cx="2056654" cy="2060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350000" y="2230438"/>
            <a:ext cx="1668463" cy="16684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365875" y="4159250"/>
            <a:ext cx="1422400" cy="142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等腰三角形 26"/>
          <p:cNvSpPr/>
          <p:nvPr/>
        </p:nvSpPr>
        <p:spPr>
          <a:xfrm rot="18085212">
            <a:off x="7789069" y="3909219"/>
            <a:ext cx="357188" cy="298450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等腰三角形 27"/>
          <p:cNvSpPr/>
          <p:nvPr/>
        </p:nvSpPr>
        <p:spPr>
          <a:xfrm rot="14697598">
            <a:off x="7872413" y="5089525"/>
            <a:ext cx="347663" cy="150813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等腰三角形 29"/>
          <p:cNvSpPr/>
          <p:nvPr/>
        </p:nvSpPr>
        <p:spPr>
          <a:xfrm rot="4929495">
            <a:off x="3566366" y="3027913"/>
            <a:ext cx="357188" cy="298450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等腰三角形 30"/>
          <p:cNvSpPr/>
          <p:nvPr/>
        </p:nvSpPr>
        <p:spPr>
          <a:xfrm rot="4168545">
            <a:off x="4737894" y="4091781"/>
            <a:ext cx="236538" cy="196850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文本框 16"/>
          <p:cNvSpPr txBox="1">
            <a:spLocks noChangeArrowheads="1"/>
          </p:cNvSpPr>
          <p:nvPr/>
        </p:nvSpPr>
        <p:spPr bwMode="auto">
          <a:xfrm>
            <a:off x="4562475" y="2359660"/>
            <a:ext cx="2117725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b="1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 </a:t>
            </a: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1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3" name="文本框 17"/>
          <p:cNvSpPr txBox="1">
            <a:spLocks noChangeArrowheads="1"/>
          </p:cNvSpPr>
          <p:nvPr/>
        </p:nvSpPr>
        <p:spPr bwMode="auto">
          <a:xfrm>
            <a:off x="6584950" y="2587625"/>
            <a:ext cx="2117725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b="1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 </a:t>
            </a: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2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6554788" y="4451350"/>
            <a:ext cx="1233488" cy="9220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5400" b="1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 </a:t>
            </a:r>
            <a:r>
              <a:rPr kumimoji="0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3</a:t>
            </a:r>
            <a:endParaRPr kumimoji="0" lang="zh-CN" altLang="en-US" sz="5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6" name="文本框 20"/>
          <p:cNvSpPr txBox="1">
            <a:spLocks noChangeArrowheads="1"/>
          </p:cNvSpPr>
          <p:nvPr/>
        </p:nvSpPr>
        <p:spPr bwMode="auto">
          <a:xfrm>
            <a:off x="8412163" y="2230469"/>
            <a:ext cx="2308225" cy="43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1"/>
              <a:t>Detecție Bot/Script: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7" name="矩形 13"/>
          <p:cNvSpPr>
            <a:spLocks noChangeArrowheads="1"/>
          </p:cNvSpPr>
          <p:nvPr/>
        </p:nvSpPr>
        <p:spPr bwMode="auto">
          <a:xfrm>
            <a:off x="8483632" y="2587657"/>
            <a:ext cx="3017838" cy="147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/>
              <a:t>Algoritmul identifică viteze inumane (Copy-Paste rapid sau scripturi automate) și blochează tentativa sau avertizează destinatarul.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文本框 22"/>
          <p:cNvSpPr txBox="1">
            <a:spLocks noChangeArrowheads="1"/>
          </p:cNvSpPr>
          <p:nvPr/>
        </p:nvSpPr>
        <p:spPr bwMode="auto">
          <a:xfrm>
            <a:off x="8483632" y="4503896"/>
            <a:ext cx="331787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1"/>
              <a:t>Abordarea "Zero-Knowledge" la Contacte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9" name="矩形 13"/>
          <p:cNvSpPr>
            <a:spLocks noChangeArrowheads="1"/>
          </p:cNvSpPr>
          <p:nvPr/>
        </p:nvSpPr>
        <p:spPr bwMode="auto">
          <a:xfrm>
            <a:off x="8483632" y="5213318"/>
            <a:ext cx="3017838" cy="117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/>
              <a:t>Eliminarea funcției de "Suggested Friends" sau "Search User" reduce drastic riscul de hărțuire sau spam.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文本框 24"/>
          <p:cNvSpPr txBox="1">
            <a:spLocks noChangeArrowheads="1"/>
          </p:cNvSpPr>
          <p:nvPr/>
        </p:nvSpPr>
        <p:spPr bwMode="auto">
          <a:xfrm>
            <a:off x="576612" y="2036096"/>
            <a:ext cx="34321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1">
                <a:sym typeface="+mn-ea"/>
              </a:rPr>
              <a:t>Securitate Continuă (Continuous Authentication)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41" name="矩形 13"/>
          <p:cNvSpPr>
            <a:spLocks noChangeArrowheads="1"/>
          </p:cNvSpPr>
          <p:nvPr/>
        </p:nvSpPr>
        <p:spPr bwMode="auto">
          <a:xfrm>
            <a:off x="392969" y="2737771"/>
            <a:ext cx="3017838" cy="3088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/>
              <a:t>Securitate Continuă (Continuous Authentication): Majoritatea aplicațiilor te verifică o singură dată (la Login). Privy te verifică la fiecare mesaj trimis. Dacă un hacker îți fură sesiunea (Cookie hijacking) dar tastează diferit, Privy îl detectează.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147447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38" name="组合 1"/>
          <p:cNvGrpSpPr/>
          <p:nvPr/>
        </p:nvGrpSpPr>
        <p:grpSpPr>
          <a:xfrm>
            <a:off x="114300" y="190500"/>
            <a:ext cx="2130425" cy="1140142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46" name="文本框 28"/>
          <p:cNvSpPr txBox="1"/>
          <p:nvPr/>
        </p:nvSpPr>
        <p:spPr>
          <a:xfrm>
            <a:off x="277463" y="276860"/>
            <a:ext cx="3744912" cy="9531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sz="2800"/>
              <a:t>Analiza în Domeniu și Piață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80120" y="1704231"/>
            <a:ext cx="1598644" cy="1239357"/>
          </a:xfrm>
          <a:prstGeom prst="rect">
            <a:avLst/>
          </a:prstGeom>
          <a:noFill/>
          <a:ln w="3810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upload_post_object_v2_901003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408" y="1821752"/>
            <a:ext cx="1314160" cy="1004227"/>
          </a:xfrm>
          <a:prstGeom prst="rect">
            <a:avLst/>
          </a:prstGeom>
        </p:spPr>
      </p:pic>
      <p:sp>
        <p:nvSpPr>
          <p:cNvPr id="3" name="矩形 11"/>
          <p:cNvSpPr/>
          <p:nvPr/>
        </p:nvSpPr>
        <p:spPr>
          <a:xfrm>
            <a:off x="7642305" y="1567720"/>
            <a:ext cx="2903569" cy="1512379"/>
          </a:xfrm>
          <a:prstGeom prst="rect">
            <a:avLst/>
          </a:prstGeom>
          <a:noFill/>
          <a:ln w="3810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upload_post_object_v2_0820135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551" y="1821752"/>
            <a:ext cx="2505075" cy="1000125"/>
          </a:xfrm>
          <a:prstGeom prst="rect">
            <a:avLst/>
          </a:prstGeom>
        </p:spPr>
      </p:pic>
      <p:sp>
        <p:nvSpPr>
          <p:cNvPr id="7" name="文本框 10"/>
          <p:cNvSpPr txBox="1">
            <a:spLocks noChangeArrowheads="1"/>
          </p:cNvSpPr>
          <p:nvPr/>
        </p:nvSpPr>
        <p:spPr bwMode="auto">
          <a:xfrm>
            <a:off x="254889" y="3299143"/>
            <a:ext cx="166344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/>
              <a:t>Criptare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8" name="文本框 10"/>
          <p:cNvSpPr txBox="1">
            <a:spLocks noChangeArrowheads="1"/>
          </p:cNvSpPr>
          <p:nvPr/>
        </p:nvSpPr>
        <p:spPr bwMode="auto">
          <a:xfrm>
            <a:off x="135160" y="4078288"/>
            <a:ext cx="2873121" cy="48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/>
              <a:t>Securitate la furt fizic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9" name="文本框 10"/>
          <p:cNvSpPr txBox="1">
            <a:spLocks noChangeArrowheads="1"/>
          </p:cNvSpPr>
          <p:nvPr/>
        </p:nvSpPr>
        <p:spPr bwMode="auto">
          <a:xfrm>
            <a:off x="166719" y="4824413"/>
            <a:ext cx="44402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/>
              <a:t>Confidențialitate Contacte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10" name="文本框 10"/>
          <p:cNvSpPr txBox="1">
            <a:spLocks noChangeArrowheads="1"/>
          </p:cNvSpPr>
          <p:nvPr/>
        </p:nvSpPr>
        <p:spPr bwMode="auto">
          <a:xfrm>
            <a:off x="254889" y="5613083"/>
            <a:ext cx="2895695" cy="27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/>
              <a:t>Protecție Phishing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cxnSp>
        <p:nvCxnSpPr>
          <p:cNvPr id="11" name="直接连接符 23"/>
          <p:cNvCxnSpPr/>
          <p:nvPr/>
        </p:nvCxnSpPr>
        <p:spPr>
          <a:xfrm flipH="1" flipV="1">
            <a:off x="277463" y="3890376"/>
            <a:ext cx="11387379" cy="857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3"/>
          <p:cNvCxnSpPr/>
          <p:nvPr/>
        </p:nvCxnSpPr>
        <p:spPr>
          <a:xfrm flipH="1" flipV="1">
            <a:off x="254889" y="4628833"/>
            <a:ext cx="11387379" cy="857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23"/>
          <p:cNvCxnSpPr/>
          <p:nvPr/>
        </p:nvCxnSpPr>
        <p:spPr>
          <a:xfrm flipH="1" flipV="1">
            <a:off x="277463" y="5457825"/>
            <a:ext cx="11387379" cy="857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23"/>
          <p:cNvCxnSpPr/>
          <p:nvPr/>
        </p:nvCxnSpPr>
        <p:spPr>
          <a:xfrm flipH="1" flipV="1">
            <a:off x="254889" y="6288088"/>
            <a:ext cx="11387379" cy="857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10"/>
          <p:cNvSpPr txBox="1">
            <a:spLocks noChangeArrowheads="1"/>
          </p:cNvSpPr>
          <p:nvPr/>
        </p:nvSpPr>
        <p:spPr bwMode="auto">
          <a:xfrm>
            <a:off x="3880104" y="3299174"/>
            <a:ext cx="283502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Foarte puternică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3" name="文本框 10"/>
          <p:cNvSpPr txBox="1">
            <a:spLocks noChangeArrowheads="1"/>
          </p:cNvSpPr>
          <p:nvPr/>
        </p:nvSpPr>
        <p:spPr bwMode="auto">
          <a:xfrm>
            <a:off x="7725632" y="3368421"/>
            <a:ext cx="283502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Puternică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5" name="文本框 10"/>
          <p:cNvSpPr txBox="1">
            <a:spLocks noChangeArrowheads="1"/>
          </p:cNvSpPr>
          <p:nvPr/>
        </p:nvSpPr>
        <p:spPr bwMode="auto">
          <a:xfrm>
            <a:off x="3880104" y="3976116"/>
            <a:ext cx="305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Scăzută (Dacă telefonul e deblocat)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6" name="文本框 10"/>
          <p:cNvSpPr txBox="1">
            <a:spLocks noChangeArrowheads="1"/>
          </p:cNvSpPr>
          <p:nvPr/>
        </p:nvSpPr>
        <p:spPr bwMode="auto">
          <a:xfrm>
            <a:off x="3989641" y="4824413"/>
            <a:ext cx="283502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Bazată pe nr. de telefon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7" name="文本框 10"/>
          <p:cNvSpPr txBox="1">
            <a:spLocks noChangeArrowheads="1"/>
          </p:cNvSpPr>
          <p:nvPr/>
        </p:nvSpPr>
        <p:spPr bwMode="auto">
          <a:xfrm>
            <a:off x="3989642" y="5613083"/>
            <a:ext cx="283502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Nu (Doar raportare manuală)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8" name="文本框 10"/>
          <p:cNvSpPr txBox="1">
            <a:spLocks noChangeArrowheads="1"/>
          </p:cNvSpPr>
          <p:nvPr/>
        </p:nvSpPr>
        <p:spPr bwMode="auto">
          <a:xfrm>
            <a:off x="7725632" y="3976116"/>
            <a:ext cx="35874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Ridicată (Biometria detectează intrusul)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9" name="文本框 10"/>
          <p:cNvSpPr txBox="1">
            <a:spLocks noChangeArrowheads="1"/>
          </p:cNvSpPr>
          <p:nvPr/>
        </p:nvSpPr>
        <p:spPr bwMode="auto">
          <a:xfrm>
            <a:off x="7676579" y="4824413"/>
            <a:ext cx="283502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Bazată pe Username Secret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40" name="文本框 10"/>
          <p:cNvSpPr txBox="1">
            <a:spLocks noChangeArrowheads="1"/>
          </p:cNvSpPr>
          <p:nvPr/>
        </p:nvSpPr>
        <p:spPr bwMode="auto">
          <a:xfrm>
            <a:off x="7676579" y="5648326"/>
            <a:ext cx="283502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Activă (AI Analysis)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3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3554" name="组合 1"/>
          <p:cNvGrpSpPr/>
          <p:nvPr/>
        </p:nvGrpSpPr>
        <p:grpSpPr>
          <a:xfrm>
            <a:off x="220663" y="428625"/>
            <a:ext cx="1139825" cy="6921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62" name="文本框 28"/>
          <p:cNvSpPr txBox="1"/>
          <p:nvPr/>
        </p:nvSpPr>
        <p:spPr>
          <a:xfrm>
            <a:off x="295847" y="428625"/>
            <a:ext cx="4973637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buFont typeface="Arial" panose="020B0604020202020204" pitchFamily="34" charset="0"/>
            </a:pPr>
            <a:r>
              <a:rPr sz="2800"/>
              <a:t>Arie Estimativă de Impact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12781" y="2038350"/>
            <a:ext cx="2981325" cy="2332006"/>
          </a:xfrm>
          <a:prstGeom prst="roundRect">
            <a:avLst/>
          </a:prstGeom>
          <a:noFill/>
          <a:ln>
            <a:solidFill>
              <a:srgbClr val="7E7E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4" name="直接连接符 13"/>
          <p:cNvCxnSpPr>
            <a:stCxn id="13" idx="3"/>
          </p:cNvCxnSpPr>
          <p:nvPr/>
        </p:nvCxnSpPr>
        <p:spPr>
          <a:xfrm flipV="1">
            <a:off x="3893820" y="1764348"/>
            <a:ext cx="1535113" cy="1439863"/>
          </a:xfrm>
          <a:prstGeom prst="line">
            <a:avLst/>
          </a:prstGeom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3" idx="3"/>
            <a:endCxn id="22" idx="2"/>
          </p:cNvCxnSpPr>
          <p:nvPr/>
        </p:nvCxnSpPr>
        <p:spPr>
          <a:xfrm>
            <a:off x="3893820" y="3204210"/>
            <a:ext cx="1576705" cy="1426845"/>
          </a:xfrm>
          <a:prstGeom prst="line">
            <a:avLst/>
          </a:prstGeom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3" idx="3"/>
            <a:endCxn id="18" idx="2"/>
          </p:cNvCxnSpPr>
          <p:nvPr/>
        </p:nvCxnSpPr>
        <p:spPr>
          <a:xfrm>
            <a:off x="3893820" y="3204210"/>
            <a:ext cx="1576705" cy="0"/>
          </a:xfrm>
          <a:prstGeom prst="line">
            <a:avLst/>
          </a:prstGeom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5470493" y="1329976"/>
            <a:ext cx="857250" cy="85725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470493" y="2775776"/>
            <a:ext cx="857250" cy="85725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470493" y="4202430"/>
            <a:ext cx="857250" cy="85725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矩形 12"/>
          <p:cNvSpPr>
            <a:spLocks noChangeArrowheads="1"/>
          </p:cNvSpPr>
          <p:nvPr/>
        </p:nvSpPr>
        <p:spPr bwMode="auto">
          <a:xfrm>
            <a:off x="6624638" y="1003745"/>
            <a:ext cx="4846638" cy="1621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Securitate Corporativă: Prevenirea fraudelor de tip "CEO Fraud" (unde un hacker intră pe contul directorului și cere transferuri urgente). Ritmul de tastare ar trăda impostorul imediat.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28" name="矩形 13"/>
          <p:cNvSpPr>
            <a:spLocks noChangeArrowheads="1"/>
          </p:cNvSpPr>
          <p:nvPr/>
        </p:nvSpPr>
        <p:spPr bwMode="auto">
          <a:xfrm>
            <a:off x="6723825" y="2775776"/>
            <a:ext cx="4970463" cy="147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Protecția Datelor Personale: Reducerea furtului de identitate în social engineering.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矩形 14"/>
          <p:cNvSpPr>
            <a:spLocks noChangeArrowheads="1"/>
          </p:cNvSpPr>
          <p:nvPr/>
        </p:nvSpPr>
        <p:spPr bwMode="auto">
          <a:xfrm>
            <a:off x="6624638" y="3979450"/>
            <a:ext cx="5284788" cy="2164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/>
              <a:t>Educație Cybersecurity: Proiectul servește ca o platformă excelentă pentru a demonstra cum funcționează criptarea și biometria comportamentală fără echipamente scumpe (doar tastatura).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23574" name="文本框 15"/>
          <p:cNvSpPr txBox="1"/>
          <p:nvPr/>
        </p:nvSpPr>
        <p:spPr>
          <a:xfrm>
            <a:off x="5715794" y="1497616"/>
            <a:ext cx="760412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800" b="1" dirty="0">
                <a:solidFill>
                  <a:srgbClr val="404040"/>
                </a:solidFill>
                <a:ea typeface="Calibri" panose="020F0502020204030204" pitchFamily="34" charset="0"/>
              </a:rPr>
              <a:t>1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23575" name="文本框 16"/>
          <p:cNvSpPr txBox="1"/>
          <p:nvPr/>
        </p:nvSpPr>
        <p:spPr>
          <a:xfrm>
            <a:off x="5715762" y="2943415"/>
            <a:ext cx="760413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800" b="1" dirty="0">
                <a:solidFill>
                  <a:srgbClr val="404040"/>
                </a:solidFill>
                <a:ea typeface="Calibri" panose="020F0502020204030204" pitchFamily="34" charset="0"/>
              </a:rPr>
              <a:t>2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23576" name="文本框 17"/>
          <p:cNvSpPr txBox="1"/>
          <p:nvPr/>
        </p:nvSpPr>
        <p:spPr>
          <a:xfrm>
            <a:off x="5715762" y="4370356"/>
            <a:ext cx="760413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800" b="1" dirty="0">
                <a:solidFill>
                  <a:srgbClr val="404040"/>
                </a:solidFill>
                <a:ea typeface="Calibri" panose="020F0502020204030204" pitchFamily="34" charset="0"/>
              </a:rPr>
              <a:t>3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35" name="矩形 13"/>
          <p:cNvSpPr>
            <a:spLocks noChangeArrowheads="1"/>
          </p:cNvSpPr>
          <p:nvPr/>
        </p:nvSpPr>
        <p:spPr bwMode="auto">
          <a:xfrm>
            <a:off x="1360456" y="2429383"/>
            <a:ext cx="2058988" cy="155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Cine ar beneficia de acest proiect?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6" name="组合 1"/>
          <p:cNvGrpSpPr/>
          <p:nvPr/>
        </p:nvGrpSpPr>
        <p:grpSpPr>
          <a:xfrm>
            <a:off x="243856" y="494092"/>
            <a:ext cx="4401341" cy="894535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4" name="文本框 28"/>
          <p:cNvSpPr txBox="1"/>
          <p:nvPr/>
        </p:nvSpPr>
        <p:spPr>
          <a:xfrm>
            <a:off x="1217613" y="656241"/>
            <a:ext cx="5573712" cy="8959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buFont typeface="Arial" panose="020B0604020202020204" pitchFamily="34" charset="0"/>
            </a:pPr>
            <a:r>
              <a:rPr sz="2800"/>
              <a:t>Arhitectura Tehnică</a:t>
            </a:r>
            <a:endParaRPr lang="zh-CN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68" name="矩形 13"/>
          <p:cNvSpPr>
            <a:spLocks noChangeArrowheads="1"/>
          </p:cNvSpPr>
          <p:nvPr/>
        </p:nvSpPr>
        <p:spPr bwMode="auto">
          <a:xfrm>
            <a:off x="579406" y="2001869"/>
            <a:ext cx="4418013" cy="99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b="1"/>
              <a:t>Backend</a:t>
            </a:r>
            <a:r>
              <a:rPr sz="2000"/>
              <a:t>: Python (Flask) pentru procesare rapidă și logică AI.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92844" y="2001869"/>
            <a:ext cx="5305425" cy="92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00" b="1"/>
              <a:t>Frontend</a:t>
            </a:r>
            <a:r>
              <a:rPr sz="2000"/>
              <a:t>: JavaScript (Vanilla) pentru captarea evenimentelor de tastatură (keydown) în timp real, fără a îngreuna browserul.</a:t>
            </a:r>
            <a:endParaRPr 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570262" y="3445859"/>
            <a:ext cx="4265581" cy="92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00" b="1"/>
              <a:t>Bază de date</a:t>
            </a:r>
            <a:r>
              <a:rPr sz="2000"/>
              <a:t>: MySQL (Relațională) pentru stocarea structurată a utilizatorilor și relațiilor.</a:t>
            </a: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5992844" y="3639217"/>
            <a:ext cx="5305425" cy="92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00" b="1"/>
              <a:t>Securitate</a:t>
            </a:r>
            <a:r>
              <a:rPr sz="2000"/>
              <a:t>: Token-based Authentication (bypass la cookie restrictions) + Analiză euristică de viteză.</a:t>
            </a:r>
            <a:endParaRPr lang="en-US" sz="200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3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84" name="TextBox 13"/>
          <p:cNvSpPr txBox="1"/>
          <p:nvPr/>
        </p:nvSpPr>
        <p:spPr>
          <a:xfrm>
            <a:off x="383297" y="3416745"/>
            <a:ext cx="2618666" cy="338518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algn="r" defTabSz="1216025">
              <a:spcBef>
                <a:spcPct val="20000"/>
              </a:spcBef>
              <a:buFont typeface="Arial" panose="020B0604020202020204" pitchFamily="34" charset="0"/>
            </a:pPr>
            <a:r>
              <a:rPr sz="1800"/>
              <a:t>Prin combinarea criptării cu analiza comportamentală, am creat un prototip funcțional care rezolvă problema "cine este de fapt în spatele tastaturii".</a:t>
            </a:r>
            <a:endParaRPr lang="en-US" altLang="zh-CN" sz="1800" b="1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86" name="TextBox 13"/>
          <p:cNvSpPr txBox="1"/>
          <p:nvPr/>
        </p:nvSpPr>
        <p:spPr>
          <a:xfrm>
            <a:off x="7589838" y="1811655"/>
            <a:ext cx="2809875" cy="276987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p>
            <a:pPr defTabSz="1216025">
              <a:spcBef>
                <a:spcPct val="20000"/>
              </a:spcBef>
              <a:buFont typeface="Arial" panose="020B0604020202020204" pitchFamily="34" charset="0"/>
            </a:pPr>
            <a:r>
              <a:t>Privy demonstrează că securitatea nu înseamnă doar parole mai lungi, ci sisteme mai inteligente.</a:t>
            </a:r>
            <a:endParaRPr lang="en-US" altLang="zh-CN" sz="1600" b="1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28692" name="组合 12"/>
          <p:cNvGrpSpPr/>
          <p:nvPr/>
        </p:nvGrpSpPr>
        <p:grpSpPr>
          <a:xfrm>
            <a:off x="3106738" y="2116135"/>
            <a:ext cx="4468811" cy="3427413"/>
            <a:chOff x="3106673" y="2116757"/>
            <a:chExt cx="4468410" cy="3426925"/>
          </a:xfrm>
        </p:grpSpPr>
        <p:sp>
          <p:nvSpPr>
            <p:cNvPr id="30" name="新月形 29"/>
            <p:cNvSpPr>
              <a:spLocks noChangeArrowheads="1"/>
            </p:cNvSpPr>
            <p:nvPr/>
          </p:nvSpPr>
          <p:spPr bwMode="auto">
            <a:xfrm rot="20751297">
              <a:off x="4135280" y="2356438"/>
              <a:ext cx="1588944" cy="3177722"/>
            </a:xfrm>
            <a:prstGeom prst="moon">
              <a:avLst>
                <a:gd name="adj" fmla="val 15190"/>
              </a:avLst>
            </a:prstGeom>
            <a:solidFill>
              <a:srgbClr val="6A6A6A"/>
            </a:solidFill>
            <a:ln w="3175" cmpd="sng">
              <a:solidFill>
                <a:srgbClr val="F8F8F8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新月形 30"/>
            <p:cNvSpPr>
              <a:spLocks noChangeArrowheads="1"/>
            </p:cNvSpPr>
            <p:nvPr/>
          </p:nvSpPr>
          <p:spPr bwMode="auto">
            <a:xfrm rot="4551297">
              <a:off x="4949633" y="1323036"/>
              <a:ext cx="1588861" cy="3176303"/>
            </a:xfrm>
            <a:prstGeom prst="moon">
              <a:avLst>
                <a:gd name="adj" fmla="val 15190"/>
              </a:avLst>
            </a:prstGeom>
            <a:noFill/>
            <a:ln w="3175" cmpd="sng">
              <a:solidFill>
                <a:srgbClr val="404040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新月形 31"/>
            <p:cNvSpPr>
              <a:spLocks noChangeArrowheads="1"/>
            </p:cNvSpPr>
            <p:nvPr/>
          </p:nvSpPr>
          <p:spPr bwMode="auto">
            <a:xfrm rot="9951297">
              <a:off x="5984551" y="2137394"/>
              <a:ext cx="1590532" cy="3177722"/>
            </a:xfrm>
            <a:prstGeom prst="moon">
              <a:avLst>
                <a:gd name="adj" fmla="val 15190"/>
              </a:avLst>
            </a:prstGeom>
            <a:solidFill>
              <a:srgbClr val="6A6A6A"/>
            </a:solidFill>
            <a:ln w="3175" cmpd="sng">
              <a:solidFill>
                <a:srgbClr val="F8F8F8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新月形 32"/>
            <p:cNvSpPr>
              <a:spLocks noChangeArrowheads="1"/>
            </p:cNvSpPr>
            <p:nvPr/>
          </p:nvSpPr>
          <p:spPr bwMode="auto">
            <a:xfrm rot="15351297">
              <a:off x="5185357" y="3160306"/>
              <a:ext cx="1588861" cy="3177890"/>
            </a:xfrm>
            <a:prstGeom prst="moon">
              <a:avLst>
                <a:gd name="adj" fmla="val 15190"/>
              </a:avLst>
            </a:prstGeom>
            <a:noFill/>
            <a:ln w="3175" cmpd="sng">
              <a:solidFill>
                <a:srgbClr val="404040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697" name="TextBox 11"/>
            <p:cNvSpPr/>
            <p:nvPr/>
          </p:nvSpPr>
          <p:spPr>
            <a:xfrm flipH="1">
              <a:off x="4762286" y="3535814"/>
              <a:ext cx="2273095" cy="583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p>
              <a:pPr algn="ctr">
                <a:buFont typeface="Arial" panose="020B0604020202020204" pitchFamily="34" charset="0"/>
              </a:pPr>
              <a:r>
                <a:rPr sz="3200"/>
                <a:t>Concluzii</a:t>
              </a:r>
              <a:endParaRPr lang="en-US" altLang="zh-CN" sz="32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直接连接符 24"/>
            <p:cNvSpPr>
              <a:spLocks noChangeShapeType="1"/>
            </p:cNvSpPr>
            <p:nvPr/>
          </p:nvSpPr>
          <p:spPr bwMode="auto">
            <a:xfrm flipH="1">
              <a:off x="3106673" y="4162755"/>
              <a:ext cx="1033369" cy="0"/>
            </a:xfrm>
            <a:prstGeom prst="line">
              <a:avLst/>
            </a:prstGeom>
            <a:noFill/>
            <a:ln w="12700" cmpd="sng">
              <a:solidFill>
                <a:srgbClr val="ADBACA"/>
              </a:solidFill>
              <a:prstDash val="sysDot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直接连接符 24"/>
            <p:cNvSpPr>
              <a:spLocks noChangeShapeType="1"/>
            </p:cNvSpPr>
            <p:nvPr/>
          </p:nvSpPr>
          <p:spPr bwMode="auto">
            <a:xfrm flipH="1">
              <a:off x="6427425" y="2240567"/>
              <a:ext cx="1050831" cy="0"/>
            </a:xfrm>
            <a:prstGeom prst="line">
              <a:avLst/>
            </a:prstGeom>
            <a:noFill/>
            <a:ln w="12700" cmpd="sng">
              <a:solidFill>
                <a:srgbClr val="ADBACA"/>
              </a:solidFill>
              <a:prstDash val="sysDot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WPS Office WWO_wpscloud_20230707210828-148622b8ac</Application>
  <PresentationFormat>宽屏</PresentationFormat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汉仪书宋二KW</vt:lpstr>
      <vt:lpstr>Impact</vt:lpstr>
      <vt:lpstr>Kingsoft Stress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11</cp:lastModifiedBy>
  <dcterms:created xsi:type="dcterms:W3CDTF">2026-01-30T22:49:16Z</dcterms:created>
  <dcterms:modified xsi:type="dcterms:W3CDTF">2026-01-30T22:49:16Z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1033-0.0.0.0</vt:lpwstr>
  </property>
  <property fmtid="{D5CDD505-2E9C-101B-9397-08002B2CF9AE}" pid="3" name="ICV">
    <vt:lpwstr/>
  </property>
</Properties>
</file>